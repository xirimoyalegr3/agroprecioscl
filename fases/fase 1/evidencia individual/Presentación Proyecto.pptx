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b9305f03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b9305f03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b9305f03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7b9305f03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b9305f0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b9305f0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cd84253e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7cd84253e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b943c45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b943c45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b943c454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b943c454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2c9201cdc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82c9201cdc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2c9201cd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2c9201cd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e29a16ec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7e29a16ec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11" Type="http://schemas.openxmlformats.org/officeDocument/2006/relationships/image" Target="../media/image10.png"/><Relationship Id="rId10" Type="http://schemas.openxmlformats.org/officeDocument/2006/relationships/image" Target="../media/image9.png"/><Relationship Id="rId12" Type="http://schemas.openxmlformats.org/officeDocument/2006/relationships/image" Target="../media/image8.png"/><Relationship Id="rId9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19.png"/><Relationship Id="rId7" Type="http://schemas.openxmlformats.org/officeDocument/2006/relationships/image" Target="../media/image4.png"/><Relationship Id="rId8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194775" y="762475"/>
            <a:ext cx="4739100" cy="276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" sz="3652"/>
              <a:t>Plataforma de Visualización, Análisis y Predicción de Precios de de Frutas y Hortalizas</a:t>
            </a:r>
            <a:endParaRPr sz="3652"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335075" y="3882225"/>
            <a:ext cx="4107000" cy="10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s" sz="1750"/>
              <a:t>Integrantes</a:t>
            </a:r>
            <a:r>
              <a:rPr lang="es" sz="1750"/>
              <a:t>: </a:t>
            </a:r>
            <a:endParaRPr sz="1750"/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s" sz="1750"/>
              <a:t>Jesús Román Martínez Jamett</a:t>
            </a:r>
            <a:endParaRPr sz="1750"/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s" sz="1750"/>
              <a:t>Miguel Ángel Muñoz Marchan</a:t>
            </a:r>
            <a:endParaRPr sz="1750"/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s" sz="1750"/>
              <a:t>Vicente Fabrizio Valenzuela Alou</a:t>
            </a:r>
            <a:endParaRPr sz="1750"/>
          </a:p>
        </p:txBody>
      </p:sp>
      <p:pic>
        <p:nvPicPr>
          <p:cNvPr id="87" name="Google Shape;87;p13" title="Logo-DUOC-transparen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9225" y="121850"/>
            <a:ext cx="2860623" cy="64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2625" y="2083625"/>
            <a:ext cx="3915200" cy="25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5486975" y="1436125"/>
            <a:ext cx="2926500" cy="5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i="1" lang="es" sz="3250"/>
              <a:t>AgroPrecios</a:t>
            </a:r>
            <a:endParaRPr i="1" sz="32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266075" y="2970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Fundamentación de la Problemática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818750" y="1269850"/>
            <a:ext cx="3147600" cy="20529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200"/>
              <a:t>Un sistema único, accesible, intuitivo y actualizado para todos los actores del mercado</a:t>
            </a:r>
            <a:endParaRPr sz="2200"/>
          </a:p>
        </p:txBody>
      </p:sp>
      <p:sp>
        <p:nvSpPr>
          <p:cNvPr id="96" name="Google Shape;96;p14"/>
          <p:cNvSpPr/>
          <p:nvPr/>
        </p:nvSpPr>
        <p:spPr>
          <a:xfrm>
            <a:off x="4909353" y="2267850"/>
            <a:ext cx="789900" cy="60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07000" y="1190725"/>
            <a:ext cx="4065000" cy="8049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s" sz="1600">
                <a:latin typeface="Roboto"/>
                <a:ea typeface="Roboto"/>
                <a:cs typeface="Roboto"/>
                <a:sym typeface="Roboto"/>
              </a:rPr>
              <a:t>Datos disponibles en ODEPA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600">
                <a:latin typeface="Roboto"/>
                <a:ea typeface="Roboto"/>
                <a:cs typeface="Roboto"/>
                <a:sym typeface="Roboto"/>
              </a:rPr>
              <a:t>Pero en tablas extensas y reportes técnicos.</a:t>
            </a:r>
            <a:endParaRPr i="1"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333025" y="2324225"/>
            <a:ext cx="4402200" cy="7389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/>
              <a:t>Difícil de interpretar rápidamente</a:t>
            </a:r>
            <a:endParaRPr b="1"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Requiere tiempo y conocimiento para </a:t>
            </a:r>
            <a:r>
              <a:rPr lang="es" sz="1600"/>
              <a:t>análisis</a:t>
            </a:r>
            <a:endParaRPr b="1" sz="2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07000" y="3391725"/>
            <a:ext cx="4065000" cy="7389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latin typeface="Roboto"/>
                <a:ea typeface="Roboto"/>
                <a:cs typeface="Roboto"/>
                <a:sym typeface="Roboto"/>
              </a:rPr>
              <a:t>Limitación para pequeños productores y PYMEs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56680">
            <a:off x="7613525" y="2778350"/>
            <a:ext cx="1915326" cy="1915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/>
          <p:cNvPicPr preferRelativeResize="0"/>
          <p:nvPr/>
        </p:nvPicPr>
        <p:blipFill rotWithShape="1">
          <a:blip r:embed="rId4">
            <a:alphaModFix/>
          </a:blip>
          <a:srcRect b="22877" l="7215" r="7995" t="21995"/>
          <a:stretch/>
        </p:blipFill>
        <p:spPr>
          <a:xfrm>
            <a:off x="0" y="3947850"/>
            <a:ext cx="1944050" cy="126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type="title"/>
          </p:nvPr>
        </p:nvSpPr>
        <p:spPr>
          <a:xfrm>
            <a:off x="311700" y="98579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Revisión de Literatura y Datos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223750" y="666000"/>
            <a:ext cx="4777200" cy="41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/>
              <a:t>ODEPA reporta fluctuaciones de hasta 50% en pocos meses en productos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/>
              <a:t>ODEPA e INE publican información, pero está en tablas y reportes difíciles de usar</a:t>
            </a:r>
            <a:br>
              <a:rPr lang="es" sz="1900"/>
            </a:b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FAO señala falta de transparencia en precios: afecta la competitividad y seguridad alimentaria</a:t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/>
              <a:t>Falta de herramientas de análisis a PYMEs</a:t>
            </a:r>
            <a:endParaRPr i="1" sz="1900"/>
          </a:p>
        </p:txBody>
      </p:sp>
      <p:sp>
        <p:nvSpPr>
          <p:cNvPr id="108" name="Google Shape;108;p15"/>
          <p:cNvSpPr txBox="1"/>
          <p:nvPr/>
        </p:nvSpPr>
        <p:spPr>
          <a:xfrm>
            <a:off x="5655550" y="1440450"/>
            <a:ext cx="3416400" cy="22626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/>
              <a:t>C</a:t>
            </a:r>
            <a:r>
              <a:rPr b="1" lang="es" sz="2000"/>
              <a:t>entralización</a:t>
            </a:r>
            <a:r>
              <a:rPr b="1" lang="es" sz="2000"/>
              <a:t> / </a:t>
            </a:r>
            <a:r>
              <a:rPr b="1" lang="es" sz="2000"/>
              <a:t>simplificación</a:t>
            </a:r>
            <a:r>
              <a:rPr b="1" lang="es" sz="2000"/>
              <a:t> de la información y análisis predictivo son esenciales para mejorar la competitividad</a:t>
            </a:r>
            <a:endParaRPr b="1" sz="1800"/>
          </a:p>
        </p:txBody>
      </p:sp>
      <p:sp>
        <p:nvSpPr>
          <p:cNvPr id="109" name="Google Shape;109;p15"/>
          <p:cNvSpPr/>
          <p:nvPr/>
        </p:nvSpPr>
        <p:spPr>
          <a:xfrm>
            <a:off x="5000950" y="2057975"/>
            <a:ext cx="654600" cy="43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0" name="Google Shape;110;p15" title="upscalemedia-transformed__1_-removebg-preview.png"/>
          <p:cNvPicPr preferRelativeResize="0"/>
          <p:nvPr/>
        </p:nvPicPr>
        <p:blipFill rotWithShape="1">
          <a:blip r:embed="rId3">
            <a:alphaModFix/>
          </a:blip>
          <a:srcRect b="17412" l="16397" r="10657" t="8204"/>
          <a:stretch/>
        </p:blipFill>
        <p:spPr>
          <a:xfrm>
            <a:off x="5000950" y="3426775"/>
            <a:ext cx="1421000" cy="156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0950" y="0"/>
            <a:ext cx="4207649" cy="1263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925" y="0"/>
            <a:ext cx="45839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>
            <p:ph type="title"/>
          </p:nvPr>
        </p:nvSpPr>
        <p:spPr>
          <a:xfrm>
            <a:off x="159925" y="128875"/>
            <a:ext cx="4296300" cy="1028700"/>
          </a:xfrm>
          <a:prstGeom prst="rect">
            <a:avLst/>
          </a:prstGeom>
          <a:solidFill>
            <a:srgbClr val="D9EAD3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180"/>
              <a:t>Resumen del proyecto - Objetivos </a:t>
            </a:r>
            <a:endParaRPr sz="3180"/>
          </a:p>
        </p:txBody>
      </p:sp>
      <p:sp>
        <p:nvSpPr>
          <p:cNvPr id="118" name="Google Shape;118;p16"/>
          <p:cNvSpPr txBox="1"/>
          <p:nvPr/>
        </p:nvSpPr>
        <p:spPr>
          <a:xfrm>
            <a:off x="466875" y="2344025"/>
            <a:ext cx="3789000" cy="18066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200"/>
              <a:t>Centralizar, visualizar y predecir precios mayoristas en Chile usando datos de ODEPA e IA</a:t>
            </a:r>
            <a:endParaRPr sz="2500"/>
          </a:p>
        </p:txBody>
      </p:sp>
      <p:sp>
        <p:nvSpPr>
          <p:cNvPr id="119" name="Google Shape;119;p16"/>
          <p:cNvSpPr/>
          <p:nvPr/>
        </p:nvSpPr>
        <p:spPr>
          <a:xfrm>
            <a:off x="4783050" y="439650"/>
            <a:ext cx="396900" cy="4264200"/>
          </a:xfrm>
          <a:prstGeom prst="leftBracket">
            <a:avLst>
              <a:gd fmla="val 8333" name="adj"/>
            </a:avLst>
          </a:prstGeom>
          <a:noFill/>
          <a:ln cap="flat" cmpd="sng" w="76200">
            <a:solidFill>
              <a:srgbClr val="FFE5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5090875" y="701550"/>
            <a:ext cx="38640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highlight>
                  <a:srgbClr val="FFFFFF"/>
                </a:highlight>
              </a:rPr>
              <a:t>📊 Dataset ODEPA integrado</a:t>
            </a:r>
            <a:br>
              <a:rPr lang="es" sz="2100">
                <a:highlight>
                  <a:srgbClr val="FFFFFF"/>
                </a:highlight>
              </a:rPr>
            </a:br>
            <a:endParaRPr sz="21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highlight>
                  <a:srgbClr val="FFFFFF"/>
                </a:highlight>
              </a:rPr>
              <a:t>🗄️ Base de datos eficiente</a:t>
            </a:r>
            <a:br>
              <a:rPr lang="es" sz="2100">
                <a:highlight>
                  <a:srgbClr val="FFFFFF"/>
                </a:highlight>
              </a:rPr>
            </a:br>
            <a:endParaRPr sz="21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highlight>
                  <a:srgbClr val="FFFFFF"/>
                </a:highlight>
              </a:rPr>
              <a:t>🗺️ Mapa interactivo con filtros</a:t>
            </a:r>
            <a:br>
              <a:rPr lang="es" sz="2100">
                <a:highlight>
                  <a:srgbClr val="FFFFFF"/>
                </a:highlight>
              </a:rPr>
            </a:br>
            <a:endParaRPr sz="21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highlight>
                  <a:srgbClr val="FFFFFF"/>
                </a:highlight>
              </a:rPr>
              <a:t>🤖 Predicción de precios (ML)</a:t>
            </a:r>
            <a:br>
              <a:rPr lang="es" sz="2100">
                <a:highlight>
                  <a:srgbClr val="FFFFFF"/>
                </a:highlight>
              </a:rPr>
            </a:br>
            <a:endParaRPr sz="21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highlight>
                  <a:srgbClr val="FFFFFF"/>
                </a:highlight>
              </a:rPr>
              <a:t>📑 Reportes PDF/Excel</a:t>
            </a:r>
            <a:br>
              <a:rPr lang="es" sz="2100">
                <a:highlight>
                  <a:srgbClr val="FFFFFF"/>
                </a:highlight>
              </a:rPr>
            </a:br>
            <a:endParaRPr sz="21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highlight>
                  <a:srgbClr val="FFFFFF"/>
                </a:highlight>
              </a:rPr>
              <a:t>✅ </a:t>
            </a:r>
            <a:r>
              <a:rPr lang="es" sz="2100">
                <a:highlight>
                  <a:srgbClr val="FFFFFF"/>
                </a:highlight>
              </a:rPr>
              <a:t>Simulación</a:t>
            </a:r>
            <a:r>
              <a:rPr lang="es" sz="2100">
                <a:highlight>
                  <a:srgbClr val="FFFFFF"/>
                </a:highlight>
              </a:rPr>
              <a:t> de ventas</a:t>
            </a:r>
            <a:endParaRPr sz="2100">
              <a:highlight>
                <a:srgbClr val="FFFFFF"/>
              </a:highlight>
            </a:endParaRPr>
          </a:p>
        </p:txBody>
      </p:sp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898125" y="1684850"/>
            <a:ext cx="2926500" cy="540300"/>
          </a:xfrm>
          <a:prstGeom prst="rect">
            <a:avLst/>
          </a:prstGeom>
          <a:solidFill>
            <a:srgbClr val="F1C23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i="1" lang="es" sz="3250"/>
              <a:t>AgroPrecios</a:t>
            </a:r>
            <a:endParaRPr i="1" sz="32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MOCKUP</a:t>
            </a:r>
            <a:endParaRPr/>
          </a:p>
        </p:txBody>
      </p:sp>
      <p:sp>
        <p:nvSpPr>
          <p:cNvPr id="127" name="Google Shape;127;p17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50" y="0"/>
            <a:ext cx="914842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type="title"/>
          </p:nvPr>
        </p:nvSpPr>
        <p:spPr>
          <a:xfrm>
            <a:off x="311700" y="1251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</a:t>
            </a:r>
            <a:r>
              <a:rPr lang="es"/>
              <a:t>etodología  </a:t>
            </a:r>
            <a:endParaRPr/>
          </a:p>
        </p:txBody>
      </p:sp>
      <p:sp>
        <p:nvSpPr>
          <p:cNvPr id="134" name="Google Shape;134;p18"/>
          <p:cNvSpPr txBox="1"/>
          <p:nvPr>
            <p:ph idx="1" type="body"/>
          </p:nvPr>
        </p:nvSpPr>
        <p:spPr>
          <a:xfrm>
            <a:off x="68150" y="818700"/>
            <a:ext cx="6422700" cy="35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Ágil (Scrum)</a:t>
            </a: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Iteraciones rápidas para entregar prototipos funcionales.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Fase de Investigación:</a:t>
            </a: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Análisis de datos, estudios de mercado.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Fase de Desarrollo:</a:t>
            </a: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Desarrollo de la plataforma con </a:t>
            </a:r>
            <a:r>
              <a:rPr b="1"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 interactivo</a:t>
            </a: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 de predicción</a:t>
            </a: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Fase de Validación:</a:t>
            </a:r>
            <a:r>
              <a:rPr lang="e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Pruebas con usuarios reales para retroalimentación</a:t>
            </a:r>
            <a:r>
              <a:rPr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 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18" title="scrum-logo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6946" y="732900"/>
            <a:ext cx="3183725" cy="324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9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3412" y="83335"/>
            <a:ext cx="1500115" cy="136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9" title="image-removebg-preview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1225" y="551100"/>
            <a:ext cx="2348775" cy="213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9"/>
          <p:cNvSpPr txBox="1"/>
          <p:nvPr>
            <p:ph type="title"/>
          </p:nvPr>
        </p:nvSpPr>
        <p:spPr>
          <a:xfrm>
            <a:off x="381000" y="481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</a:t>
            </a:r>
            <a:r>
              <a:rPr lang="es"/>
              <a:t>ecnología usada características y funcionalidades </a:t>
            </a:r>
            <a:endParaRPr/>
          </a:p>
        </p:txBody>
      </p:sp>
      <p:sp>
        <p:nvSpPr>
          <p:cNvPr id="143" name="Google Shape;143;p19"/>
          <p:cNvSpPr txBox="1"/>
          <p:nvPr>
            <p:ph idx="1" type="body"/>
          </p:nvPr>
        </p:nvSpPr>
        <p:spPr>
          <a:xfrm>
            <a:off x="-3820050" y="473100"/>
            <a:ext cx="4051500" cy="41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 (Pandas, NumPy, scikit-learn, Prophet, Matplotlib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Flask / Django (Backend)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PostgreSQL (Base de datos)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React.js (Frontend)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Leaflet.js (Mapas interactivos)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Chart.js / Rechart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endParaRPr sz="1400"/>
          </a:p>
        </p:txBody>
      </p:sp>
      <p:sp>
        <p:nvSpPr>
          <p:cNvPr id="144" name="Google Shape;144;p19"/>
          <p:cNvSpPr txBox="1"/>
          <p:nvPr/>
        </p:nvSpPr>
        <p:spPr>
          <a:xfrm>
            <a:off x="-3738175" y="2864350"/>
            <a:ext cx="3677100" cy="15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s" sz="1100"/>
              <a:t>Docker (Contenedores)</a:t>
            </a:r>
            <a:br>
              <a:rPr lang="es" sz="1100"/>
            </a:br>
            <a:endParaRPr sz="11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100"/>
              <a:t>GitHub / GitLab</a:t>
            </a:r>
            <a:r>
              <a:rPr lang="es" sz="1100"/>
              <a:t> 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pic>
        <p:nvPicPr>
          <p:cNvPr id="145" name="Google Shape;145;p19" title="upscalemedia-transformed__1_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5">
            <a:off x="78150" y="1280267"/>
            <a:ext cx="990321" cy="1085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37062" y="585250"/>
            <a:ext cx="1469875" cy="146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2425" y="2280961"/>
            <a:ext cx="2873247" cy="76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54275" y="2132625"/>
            <a:ext cx="1375450" cy="137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/>
          <p:cNvPicPr preferRelativeResize="0"/>
          <p:nvPr/>
        </p:nvPicPr>
        <p:blipFill rotWithShape="1">
          <a:blip r:embed="rId9">
            <a:alphaModFix/>
          </a:blip>
          <a:srcRect b="7663" l="0" r="0" t="0"/>
          <a:stretch/>
        </p:blipFill>
        <p:spPr>
          <a:xfrm>
            <a:off x="5663600" y="752887"/>
            <a:ext cx="2873251" cy="959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229175" y="2280962"/>
            <a:ext cx="2118456" cy="119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760150" y="3585575"/>
            <a:ext cx="1851075" cy="1041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340975" y="3585575"/>
            <a:ext cx="2496937" cy="76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0700" y="573875"/>
            <a:ext cx="3573300" cy="357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 txBox="1"/>
          <p:nvPr>
            <p:ph type="title"/>
          </p:nvPr>
        </p:nvSpPr>
        <p:spPr>
          <a:xfrm>
            <a:off x="311700" y="88377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KPIs</a:t>
            </a:r>
            <a:endParaRPr/>
          </a:p>
        </p:txBody>
      </p:sp>
      <p:sp>
        <p:nvSpPr>
          <p:cNvPr id="159" name="Google Shape;159;p20"/>
          <p:cNvSpPr txBox="1"/>
          <p:nvPr/>
        </p:nvSpPr>
        <p:spPr>
          <a:xfrm>
            <a:off x="39625" y="584975"/>
            <a:ext cx="4020900" cy="3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300"/>
              <a:t>% de registros del dataset ODEPA integrados en la base de datos.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/>
              <a:t>Meta: ≥ 95%.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300"/>
              <a:t>Tiempo promedio en obtener resultados al aplicar filtros (ej. por región, producto, fecha).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/>
              <a:t>Meta: ≤ 5 segundos.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300"/>
              <a:t>Nivel de acierto del modelo de Machine Learning respecto a datos históricos.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/>
              <a:t>Meta: ≥ 80% de precisión.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300">
                <a:highlight>
                  <a:schemeClr val="lt1"/>
                </a:highlight>
              </a:rPr>
              <a:t>% de tiempo que la aplicación está accesible para los usuarios (uptime).</a:t>
            </a:r>
            <a:endParaRPr b="1" sz="13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300">
                <a:highlight>
                  <a:schemeClr val="lt1"/>
                </a:highlight>
              </a:rPr>
              <a:t>Meta: ≥ 95%.</a:t>
            </a:r>
            <a:endParaRPr b="1" sz="2100"/>
          </a:p>
        </p:txBody>
      </p:sp>
      <p:sp>
        <p:nvSpPr>
          <p:cNvPr id="160" name="Google Shape;160;p20"/>
          <p:cNvSpPr txBox="1"/>
          <p:nvPr/>
        </p:nvSpPr>
        <p:spPr>
          <a:xfrm>
            <a:off x="4203627" y="598207"/>
            <a:ext cx="4775700" cy="43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300">
                <a:highlight>
                  <a:schemeClr val="lt1"/>
                </a:highlight>
              </a:rPr>
              <a:t>% de usuarios que califican la interfaz como intuitiva en encuestas de prueba.</a:t>
            </a:r>
            <a:endParaRPr b="1" sz="13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highlight>
                  <a:schemeClr val="lt1"/>
                </a:highlight>
              </a:rPr>
              <a:t>Meta: ≥ 80%.</a:t>
            </a:r>
            <a:endParaRPr sz="13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300">
                <a:highlight>
                  <a:schemeClr val="lt1"/>
                </a:highlight>
              </a:rPr>
              <a:t>Tiempo promedio en generar reportes PDF/Excel con datos y predicciones.</a:t>
            </a:r>
            <a:endParaRPr b="1" sz="13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highlight>
                  <a:schemeClr val="lt1"/>
                </a:highlight>
              </a:rPr>
              <a:t>Meta: ≤ 1 minuto.</a:t>
            </a:r>
            <a:endParaRPr sz="13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highlight>
                  <a:schemeClr val="lt1"/>
                </a:highlight>
              </a:rPr>
              <a:t>% de consultas que utilizan al menos 2 filtros</a:t>
            </a:r>
            <a:endParaRPr b="1" sz="13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highlight>
                  <a:schemeClr val="lt1"/>
                </a:highlight>
              </a:rPr>
              <a:t> (ej. región + producto).</a:t>
            </a:r>
            <a:endParaRPr b="1" sz="13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highlight>
                  <a:schemeClr val="lt1"/>
                </a:highlight>
              </a:rPr>
              <a:t>Meta: ≥ 70% (demostrar valor </a:t>
            </a:r>
            <a:endParaRPr sz="1300"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highlight>
                  <a:schemeClr val="lt1"/>
                </a:highlight>
              </a:rPr>
              <a:t>en la funcionalidad).</a:t>
            </a:r>
            <a:endParaRPr sz="20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/>
          <p:nvPr/>
        </p:nvSpPr>
        <p:spPr>
          <a:xfrm>
            <a:off x="5852925" y="221025"/>
            <a:ext cx="3124800" cy="34899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1"/>
          <p:cNvSpPr txBox="1"/>
          <p:nvPr>
            <p:ph type="title"/>
          </p:nvPr>
        </p:nvSpPr>
        <p:spPr>
          <a:xfrm>
            <a:off x="311700" y="941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Resultados y análisis esperados</a:t>
            </a:r>
            <a:endParaRPr/>
          </a:p>
        </p:txBody>
      </p:sp>
      <p:sp>
        <p:nvSpPr>
          <p:cNvPr id="167" name="Google Shape;167;p21"/>
          <p:cNvSpPr txBox="1"/>
          <p:nvPr/>
        </p:nvSpPr>
        <p:spPr>
          <a:xfrm>
            <a:off x="6053775" y="362575"/>
            <a:ext cx="276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IMPACTO ESPERADO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" name="Google Shape;168;p21"/>
          <p:cNvCxnSpPr/>
          <p:nvPr/>
        </p:nvCxnSpPr>
        <p:spPr>
          <a:xfrm flipH="1">
            <a:off x="5697438" y="0"/>
            <a:ext cx="34200" cy="5246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21"/>
          <p:cNvSpPr txBox="1"/>
          <p:nvPr/>
        </p:nvSpPr>
        <p:spPr>
          <a:xfrm>
            <a:off x="380150" y="701975"/>
            <a:ext cx="4777200" cy="7620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500"/>
              <a:t>Plataforma centralizada con info. histórica y actualizada de ODEPA</a:t>
            </a:r>
            <a:endParaRPr sz="1300"/>
          </a:p>
        </p:txBody>
      </p:sp>
      <p:sp>
        <p:nvSpPr>
          <p:cNvPr id="170" name="Google Shape;170;p21"/>
          <p:cNvSpPr txBox="1"/>
          <p:nvPr/>
        </p:nvSpPr>
        <p:spPr>
          <a:xfrm>
            <a:off x="380150" y="1630588"/>
            <a:ext cx="4777200" cy="762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500"/>
              <a:t>Visualización de precios mayoristas en un mapa interactivo por región</a:t>
            </a:r>
            <a:endParaRPr sz="1300"/>
          </a:p>
        </p:txBody>
      </p:sp>
      <p:sp>
        <p:nvSpPr>
          <p:cNvPr id="171" name="Google Shape;171;p21"/>
          <p:cNvSpPr txBox="1"/>
          <p:nvPr/>
        </p:nvSpPr>
        <p:spPr>
          <a:xfrm>
            <a:off x="380150" y="2559225"/>
            <a:ext cx="4777200" cy="4311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600"/>
              <a:t>Predicciones de precios con alta precisión</a:t>
            </a:r>
            <a:endParaRPr b="1"/>
          </a:p>
        </p:txBody>
      </p:sp>
      <p:sp>
        <p:nvSpPr>
          <p:cNvPr id="172" name="Google Shape;172;p21"/>
          <p:cNvSpPr txBox="1"/>
          <p:nvPr/>
        </p:nvSpPr>
        <p:spPr>
          <a:xfrm>
            <a:off x="380175" y="3081650"/>
            <a:ext cx="4777200" cy="8004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600"/>
              <a:t>Reportes en PDF/Excel para apoyar la toma de decisiones.</a:t>
            </a:r>
            <a:endParaRPr b="1"/>
          </a:p>
        </p:txBody>
      </p:sp>
      <p:sp>
        <p:nvSpPr>
          <p:cNvPr id="173" name="Google Shape;173;p21"/>
          <p:cNvSpPr txBox="1"/>
          <p:nvPr/>
        </p:nvSpPr>
        <p:spPr>
          <a:xfrm>
            <a:off x="380150" y="3973375"/>
            <a:ext cx="4777200" cy="800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600"/>
              <a:t>Acceso gratuito y simplificado a datos relevantes para productores, distribuidores y comerciantes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5984025" y="998425"/>
            <a:ext cx="2936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/>
              <a:t>🚜 Decisiones más informadas para agricultores y exportadores</a:t>
            </a:r>
            <a:br>
              <a:rPr b="1" lang="es" sz="1600"/>
            </a:b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/>
              <a:t>💰 Mayor rentabilidad y competitividad</a:t>
            </a:r>
            <a:br>
              <a:rPr b="1" lang="es" sz="1600"/>
            </a:b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/>
              <a:t>🌍 Acceso equitativo a información (para PYMEs)</a:t>
            </a:r>
            <a:endParaRPr b="1" sz="1600"/>
          </a:p>
        </p:txBody>
      </p:sp>
      <p:cxnSp>
        <p:nvCxnSpPr>
          <p:cNvPr id="175" name="Google Shape;175;p21"/>
          <p:cNvCxnSpPr/>
          <p:nvPr/>
        </p:nvCxnSpPr>
        <p:spPr>
          <a:xfrm>
            <a:off x="5841525" y="844488"/>
            <a:ext cx="3147600" cy="1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8238" y="0"/>
            <a:ext cx="6387525" cy="3870347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2"/>
          <p:cNvSpPr/>
          <p:nvPr/>
        </p:nvSpPr>
        <p:spPr>
          <a:xfrm>
            <a:off x="7026499" y="2113801"/>
            <a:ext cx="424500" cy="52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00050" lIns="100050" spcFirstLastPara="1" rIns="100050" wrap="square" tIns="100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2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